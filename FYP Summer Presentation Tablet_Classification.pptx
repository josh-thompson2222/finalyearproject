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  <p:embeddedFont>
      <p:font typeface="Open Sans Italics" panose="020B0604020202020204" charset="0"/>
      <p:regular r:id="rId16"/>
    </p:embeddedFont>
    <p:embeddedFont>
      <p:font typeface="Open Sans Medium" panose="020B0604020202020204" charset="0"/>
      <p:regular r:id="rId17"/>
    </p:embeddedFont>
    <p:embeddedFont>
      <p:font typeface="Open Sans Semi-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408A7-C1C1-489A-8D5D-4D997C4EC421}" v="14" dt="2026-04-27T18:45:26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THOMPSON - STUDENT" userId="22478111-0b67-4392-be28-0a3807fe790b" providerId="ADAL" clId="{09201BBB-64EA-4E3A-BFFC-00A16409E15E}"/>
    <pc:docChg chg="custSel modSld">
      <pc:chgData name="JOSH THOMPSON - STUDENT" userId="22478111-0b67-4392-be28-0a3807fe790b" providerId="ADAL" clId="{09201BBB-64EA-4E3A-BFFC-00A16409E15E}" dt="2026-04-27T18:48:09.936" v="36" actId="1076"/>
      <pc:docMkLst>
        <pc:docMk/>
      </pc:docMkLst>
      <pc:sldChg chg="modSp mod">
        <pc:chgData name="JOSH THOMPSON - STUDENT" userId="22478111-0b67-4392-be28-0a3807fe790b" providerId="ADAL" clId="{09201BBB-64EA-4E3A-BFFC-00A16409E15E}" dt="2026-04-27T18:34:15.191" v="0" actId="113"/>
        <pc:sldMkLst>
          <pc:docMk/>
          <pc:sldMk cId="0" sldId="257"/>
        </pc:sldMkLst>
        <pc:spChg chg="mod">
          <ac:chgData name="JOSH THOMPSON - STUDENT" userId="22478111-0b67-4392-be28-0a3807fe790b" providerId="ADAL" clId="{09201BBB-64EA-4E3A-BFFC-00A16409E15E}" dt="2026-04-27T18:34:15.191" v="0" actId="113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JOSH THOMPSON - STUDENT" userId="22478111-0b67-4392-be28-0a3807fe790b" providerId="ADAL" clId="{09201BBB-64EA-4E3A-BFFC-00A16409E15E}" dt="2026-04-27T18:41:55.875" v="8" actId="113"/>
        <pc:sldMkLst>
          <pc:docMk/>
          <pc:sldMk cId="0" sldId="259"/>
        </pc:sldMkLst>
        <pc:spChg chg="mod">
          <ac:chgData name="JOSH THOMPSON - STUDENT" userId="22478111-0b67-4392-be28-0a3807fe790b" providerId="ADAL" clId="{09201BBB-64EA-4E3A-BFFC-00A16409E15E}" dt="2026-04-27T18:40:48.838" v="1" actId="113"/>
          <ac:spMkLst>
            <pc:docMk/>
            <pc:sldMk cId="0" sldId="259"/>
            <ac:spMk id="8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1:47.705" v="7" actId="113"/>
          <ac:spMkLst>
            <pc:docMk/>
            <pc:sldMk cId="0" sldId="259"/>
            <ac:spMk id="9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1:21.885" v="6" actId="11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1:55.875" v="8" actId="113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JOSH THOMPSON - STUDENT" userId="22478111-0b67-4392-be28-0a3807fe790b" providerId="ADAL" clId="{09201BBB-64EA-4E3A-BFFC-00A16409E15E}" dt="2026-04-27T18:43:12.321" v="18" actId="113"/>
        <pc:sldMkLst>
          <pc:docMk/>
          <pc:sldMk cId="0" sldId="260"/>
        </pc:sldMkLst>
        <pc:spChg chg="mod">
          <ac:chgData name="JOSH THOMPSON - STUDENT" userId="22478111-0b67-4392-be28-0a3807fe790b" providerId="ADAL" clId="{09201BBB-64EA-4E3A-BFFC-00A16409E15E}" dt="2026-04-27T18:42:32.977" v="11" actId="33524"/>
          <ac:spMkLst>
            <pc:docMk/>
            <pc:sldMk cId="0" sldId="260"/>
            <ac:spMk id="6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2:39.111" v="12" actId="113"/>
          <ac:spMkLst>
            <pc:docMk/>
            <pc:sldMk cId="0" sldId="260"/>
            <ac:spMk id="8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2:43.074" v="13" actId="11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3:12.321" v="18" actId="113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JOSH THOMPSON - STUDENT" userId="22478111-0b67-4392-be28-0a3807fe790b" providerId="ADAL" clId="{09201BBB-64EA-4E3A-BFFC-00A16409E15E}" dt="2026-04-27T18:44:43.375" v="26" actId="33524"/>
        <pc:sldMkLst>
          <pc:docMk/>
          <pc:sldMk cId="0" sldId="261"/>
        </pc:sldMkLst>
        <pc:spChg chg="mod">
          <ac:chgData name="JOSH THOMPSON - STUDENT" userId="22478111-0b67-4392-be28-0a3807fe790b" providerId="ADAL" clId="{09201BBB-64EA-4E3A-BFFC-00A16409E15E}" dt="2026-04-27T18:44:09.175" v="20" actId="113"/>
          <ac:spMkLst>
            <pc:docMk/>
            <pc:sldMk cId="0" sldId="261"/>
            <ac:spMk id="8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4:41.022" v="25" actId="3352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4:30.262" v="24" actId="11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4:43.375" v="26" actId="33524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JOSH THOMPSON - STUDENT" userId="22478111-0b67-4392-be28-0a3807fe790b" providerId="ADAL" clId="{09201BBB-64EA-4E3A-BFFC-00A16409E15E}" dt="2026-04-27T18:45:33.260" v="27" actId="33524"/>
        <pc:sldMkLst>
          <pc:docMk/>
          <pc:sldMk cId="0" sldId="263"/>
        </pc:sldMkLst>
        <pc:spChg chg="mod">
          <ac:chgData name="JOSH THOMPSON - STUDENT" userId="22478111-0b67-4392-be28-0a3807fe790b" providerId="ADAL" clId="{09201BBB-64EA-4E3A-BFFC-00A16409E15E}" dt="2026-04-27T18:45:33.260" v="27" actId="33524"/>
          <ac:spMkLst>
            <pc:docMk/>
            <pc:sldMk cId="0" sldId="263"/>
            <ac:spMk id="14" creationId="{00000000-0000-0000-0000-000000000000}"/>
          </ac:spMkLst>
        </pc:spChg>
      </pc:sldChg>
      <pc:sldChg chg="modSp mod">
        <pc:chgData name="JOSH THOMPSON - STUDENT" userId="22478111-0b67-4392-be28-0a3807fe790b" providerId="ADAL" clId="{09201BBB-64EA-4E3A-BFFC-00A16409E15E}" dt="2026-04-27T18:48:09.936" v="36" actId="1076"/>
        <pc:sldMkLst>
          <pc:docMk/>
          <pc:sldMk cId="0" sldId="264"/>
        </pc:sldMkLst>
        <pc:spChg chg="mod">
          <ac:chgData name="JOSH THOMPSON - STUDENT" userId="22478111-0b67-4392-be28-0a3807fe790b" providerId="ADAL" clId="{09201BBB-64EA-4E3A-BFFC-00A16409E15E}" dt="2026-04-27T18:47:52.086" v="35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6:09.018" v="29" actId="113"/>
          <ac:spMkLst>
            <pc:docMk/>
            <pc:sldMk cId="0" sldId="264"/>
            <ac:spMk id="9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6:01.791" v="28" actId="11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7:20.225" v="34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6:21.841" v="32" actId="11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8:09.936" v="36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OSH THOMPSON - STUDENT" userId="22478111-0b67-4392-be28-0a3807fe790b" providerId="ADAL" clId="{09201BBB-64EA-4E3A-BFFC-00A16409E15E}" dt="2026-04-27T18:48:09.936" v="36" actId="1076"/>
          <ac:spMkLst>
            <pc:docMk/>
            <pc:sldMk cId="0" sldId="264"/>
            <ac:spMk id="1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hyperlink" Target="https://joshthompson.atlassian.net/jira/software/projects/SCRUM/summary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404" t="-79025" r="-2048" b="-38264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TextBox 3"/>
          <p:cNvSpPr txBox="1"/>
          <p:nvPr/>
        </p:nvSpPr>
        <p:spPr>
          <a:xfrm>
            <a:off x="4625743" y="1744457"/>
            <a:ext cx="9036513" cy="388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9"/>
              </a:lnSpc>
            </a:pPr>
            <a:r>
              <a:rPr lang="en-US" sz="10626" b="1" spc="-425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Tablet Classification App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31296" y="6641850"/>
            <a:ext cx="10625408" cy="1847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ATU Galway - B.Eng(Hons) Software and Electronic Engineering</a:t>
            </a:r>
          </a:p>
          <a:p>
            <a:pPr algn="ctr">
              <a:lnSpc>
                <a:spcPts val="3696"/>
              </a:lnSpc>
            </a:pPr>
            <a:r>
              <a:rPr lang="en-US" sz="264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Engineering</a:t>
            </a:r>
          </a:p>
          <a:p>
            <a:pPr algn="ctr">
              <a:lnSpc>
                <a:spcPts val="3696"/>
              </a:lnSpc>
            </a:pPr>
            <a:r>
              <a:rPr lang="en-US" sz="264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Josh Thompson</a:t>
            </a:r>
          </a:p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64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G00422756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31296" y="8875903"/>
            <a:ext cx="10625408" cy="72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6"/>
              </a:lnSpc>
              <a:spcBef>
                <a:spcPct val="0"/>
              </a:spcBef>
            </a:pPr>
            <a:r>
              <a:rPr lang="en-US" sz="2140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People with memory difficulties struggle to identify their medication and remember if they have taken it. This app solves that issue using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70187" y="0"/>
            <a:ext cx="8717813" cy="10287000"/>
            <a:chOff x="0" y="0"/>
            <a:chExt cx="229604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6049" cy="2709333"/>
            </a:xfrm>
            <a:custGeom>
              <a:avLst/>
              <a:gdLst/>
              <a:ahLst/>
              <a:cxnLst/>
              <a:rect l="l" t="t" r="r" b="b"/>
              <a:pathLst>
                <a:path w="2296049" h="2709333">
                  <a:moveTo>
                    <a:pt x="0" y="0"/>
                  </a:moveTo>
                  <a:lnTo>
                    <a:pt x="2296049" y="0"/>
                  </a:lnTo>
                  <a:lnTo>
                    <a:pt x="22960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E"/>
            </a:solidFill>
          </p:spPr>
          <p:txBody>
            <a:bodyPr/>
            <a:lstStyle/>
            <a:p>
              <a:endParaRPr lang="en-I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96049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9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3465824"/>
          <a:ext cx="6866706" cy="4114799"/>
        </p:xfrm>
        <a:graphic>
          <a:graphicData uri="http://schemas.openxmlformats.org/drawingml/2006/table">
            <a:tbl>
              <a:tblPr/>
              <a:tblGrid>
                <a:gridCol w="2288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121">
                <a:tc>
                  <a:txBody>
                    <a:bodyPr/>
                    <a:lstStyle/>
                    <a:p>
                      <a:pPr algn="ctr">
                        <a:lnSpc>
                          <a:spcPts val="2259"/>
                        </a:lnSpc>
                        <a:defRPr/>
                      </a:pPr>
                      <a:r>
                        <a:rPr lang="en-US" sz="1614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Product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9"/>
                        </a:lnSpc>
                        <a:defRPr/>
                      </a:pPr>
                      <a:r>
                        <a:rPr lang="en-US" sz="1614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it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9"/>
                        </a:lnSpc>
                        <a:defRPr/>
                      </a:pPr>
                      <a:r>
                        <a:rPr lang="en-US" sz="1614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What’s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2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Hero Smart Dispenser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Tablet schedule and reminders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image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2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Pharmasee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 pill recognition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schedule or logging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52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Smart Pill 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Photo identification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schedule or logging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28700" y="636611"/>
            <a:ext cx="6475579" cy="172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Research &amp;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69185" y="2711444"/>
            <a:ext cx="5243196" cy="2864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machine learning model I have trained correctly classifies all 4 tablet classes.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backend returns correct prediction via API.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Frontend receives tablet prediction from the backend, retrieves user schedule, and correctly displays whether the tablet is required at the current time of day.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User’s intake log is stored in the database.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69185" y="2150153"/>
            <a:ext cx="2458411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Success criteria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870825"/>
            <a:ext cx="594389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Gap identified: 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product combines real-time mobile image-based tablet classification with a personalised schedule check and intake logging for users.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043545"/>
            <a:ext cx="2458411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Existing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E"/>
            </a:solidFill>
          </p:spPr>
          <p:txBody>
            <a:bodyPr/>
            <a:lstStyle/>
            <a:p>
              <a:endParaRPr lang="en-I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401331" y="1265279"/>
            <a:ext cx="9485337" cy="9021721"/>
          </a:xfrm>
          <a:custGeom>
            <a:avLst/>
            <a:gdLst/>
            <a:ahLst/>
            <a:cxnLst/>
            <a:rect l="l" t="t" r="r" b="b"/>
            <a:pathLst>
              <a:path w="9485337" h="9021721">
                <a:moveTo>
                  <a:pt x="0" y="0"/>
                </a:moveTo>
                <a:lnTo>
                  <a:pt x="9485338" y="0"/>
                </a:lnTo>
                <a:lnTo>
                  <a:pt x="9485338" y="9021721"/>
                </a:lnTo>
                <a:lnTo>
                  <a:pt x="0" y="9021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TextBox 6"/>
          <p:cNvSpPr txBox="1"/>
          <p:nvPr/>
        </p:nvSpPr>
        <p:spPr>
          <a:xfrm>
            <a:off x="5021216" y="375383"/>
            <a:ext cx="8245568" cy="889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System Architecture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8003" y="1236704"/>
            <a:ext cx="3730715" cy="249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Backend and database are containerised using Docker Compose. Frontend is a React Native mobile app communicating with the backend over HTTP using JSON and multipart form data for image uploads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921738"/>
            <a:ext cx="4405140" cy="1372093"/>
          </a:xfrm>
          <a:custGeom>
            <a:avLst/>
            <a:gdLst/>
            <a:ahLst/>
            <a:cxnLst/>
            <a:rect l="l" t="t" r="r" b="b"/>
            <a:pathLst>
              <a:path w="4405140" h="1372093">
                <a:moveTo>
                  <a:pt x="0" y="0"/>
                </a:moveTo>
                <a:lnTo>
                  <a:pt x="4405140" y="0"/>
                </a:lnTo>
                <a:lnTo>
                  <a:pt x="4405140" y="1372093"/>
                </a:lnTo>
                <a:lnTo>
                  <a:pt x="0" y="1372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1028700" y="7524528"/>
            <a:ext cx="5865247" cy="2676019"/>
          </a:xfrm>
          <a:custGeom>
            <a:avLst/>
            <a:gdLst/>
            <a:ahLst/>
            <a:cxnLst/>
            <a:rect l="l" t="t" r="r" b="b"/>
            <a:pathLst>
              <a:path w="5865247" h="2676019">
                <a:moveTo>
                  <a:pt x="0" y="0"/>
                </a:moveTo>
                <a:lnTo>
                  <a:pt x="5865247" y="0"/>
                </a:lnTo>
                <a:lnTo>
                  <a:pt x="5865247" y="2676019"/>
                </a:lnTo>
                <a:lnTo>
                  <a:pt x="0" y="267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Freeform 4"/>
          <p:cNvSpPr/>
          <p:nvPr/>
        </p:nvSpPr>
        <p:spPr>
          <a:xfrm>
            <a:off x="10112812" y="7407811"/>
            <a:ext cx="6584116" cy="691332"/>
          </a:xfrm>
          <a:custGeom>
            <a:avLst/>
            <a:gdLst/>
            <a:ahLst/>
            <a:cxnLst/>
            <a:rect l="l" t="t" r="r" b="b"/>
            <a:pathLst>
              <a:path w="6584116" h="691332">
                <a:moveTo>
                  <a:pt x="0" y="0"/>
                </a:moveTo>
                <a:lnTo>
                  <a:pt x="6584116" y="0"/>
                </a:lnTo>
                <a:lnTo>
                  <a:pt x="6584116" y="691332"/>
                </a:lnTo>
                <a:lnTo>
                  <a:pt x="0" y="691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10112812" y="8472903"/>
            <a:ext cx="7893281" cy="365064"/>
          </a:xfrm>
          <a:custGeom>
            <a:avLst/>
            <a:gdLst/>
            <a:ahLst/>
            <a:cxnLst/>
            <a:rect l="l" t="t" r="r" b="b"/>
            <a:pathLst>
              <a:path w="7893281" h="365064">
                <a:moveTo>
                  <a:pt x="0" y="0"/>
                </a:moveTo>
                <a:lnTo>
                  <a:pt x="7893281" y="0"/>
                </a:lnTo>
                <a:lnTo>
                  <a:pt x="7893281" y="365065"/>
                </a:lnTo>
                <a:lnTo>
                  <a:pt x="0" y="365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10112812" y="9210335"/>
            <a:ext cx="7697376" cy="981415"/>
          </a:xfrm>
          <a:custGeom>
            <a:avLst/>
            <a:gdLst/>
            <a:ahLst/>
            <a:cxnLst/>
            <a:rect l="l" t="t" r="r" b="b"/>
            <a:pathLst>
              <a:path w="7697376" h="981415">
                <a:moveTo>
                  <a:pt x="0" y="0"/>
                </a:moveTo>
                <a:lnTo>
                  <a:pt x="7697376" y="0"/>
                </a:lnTo>
                <a:lnTo>
                  <a:pt x="7697376" y="981415"/>
                </a:lnTo>
                <a:lnTo>
                  <a:pt x="0" y="9814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TextBox 7"/>
          <p:cNvSpPr txBox="1"/>
          <p:nvPr/>
        </p:nvSpPr>
        <p:spPr>
          <a:xfrm>
            <a:off x="1028700" y="289169"/>
            <a:ext cx="14235526" cy="172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Implementation - Python FastAPI &amp; PostgreSQL Database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36604"/>
            <a:ext cx="7117763" cy="126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FastAPI + Uvicorn, PostgreSQL database, containerised with Docker Compose (Two services: FastAPI app container and PostgreSQL container, with </a:t>
            </a:r>
            <a:r>
              <a:rPr lang="en-US" sz="18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healthcheck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-based </a:t>
            </a:r>
            <a:r>
              <a:rPr lang="en-US" sz="18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depends_on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to ensure correct startup ordering).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2812" y="2663371"/>
            <a:ext cx="6237306" cy="94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JWTs implemented via python-</a:t>
            </a:r>
            <a:r>
              <a:rPr lang="en-US" sz="18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jose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bcrypt password hashing via passlib. Bcrypt 72-byte truncation issue identified and resolved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266856"/>
            <a:ext cx="1913799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2399" b="1" spc="-9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Frameworks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12812" y="2257331"/>
            <a:ext cx="2337386" cy="29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2293" b="1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Authentication: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505485"/>
            <a:ext cx="1913799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2399" b="1" spc="-9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Endpoints: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866001"/>
            <a:ext cx="8115300" cy="158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 </a:t>
            </a: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/api/users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- Registration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 </a:t>
            </a: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/api/login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- JWT issuance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POST/GET/PUT/DELETE</a:t>
            </a: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/api/tablet-schedules - Schedule management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POST/GET</a:t>
            </a: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/api/log-intake - intake-logging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</a:t>
            </a: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/api/predict - Image classification endpoint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12812" y="4745505"/>
            <a:ext cx="6237306" cy="222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PostgreSQL via SQLAlchemy ORM - 3 tables: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Users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Tablet_schedules</a:t>
            </a:r>
            <a:endParaRPr lang="en-US" sz="180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Intake_logs</a:t>
            </a:r>
            <a:endParaRPr lang="en-US" sz="180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These tables are linked via foreign keys, so one user is only attributed to their own tablet schedule and can only view their own intake logs.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12812" y="4473908"/>
            <a:ext cx="1332418" cy="29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2293" b="1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Database: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12812" y="8997565"/>
            <a:ext cx="2753653" cy="21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1"/>
              </a:lnSpc>
            </a:pPr>
            <a:r>
              <a:rPr lang="en-US" sz="1799" b="1" spc="-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Intake Logs table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12812" y="8261068"/>
            <a:ext cx="2996522" cy="21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1"/>
              </a:lnSpc>
            </a:pPr>
            <a:r>
              <a:rPr lang="en-US" sz="1799" b="1" spc="-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Tablet Schedule table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2812" y="7090560"/>
            <a:ext cx="1620263" cy="21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1"/>
              </a:lnSpc>
            </a:pPr>
            <a:r>
              <a:rPr lang="en-US" sz="1799" b="1" spc="-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Users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5899500"/>
            <a:ext cx="4889076" cy="4362561"/>
          </a:xfrm>
          <a:custGeom>
            <a:avLst/>
            <a:gdLst/>
            <a:ahLst/>
            <a:cxnLst/>
            <a:rect l="l" t="t" r="r" b="b"/>
            <a:pathLst>
              <a:path w="4889076" h="4362561">
                <a:moveTo>
                  <a:pt x="0" y="0"/>
                </a:moveTo>
                <a:lnTo>
                  <a:pt x="4889076" y="0"/>
                </a:lnTo>
                <a:lnTo>
                  <a:pt x="4889076" y="4362561"/>
                </a:lnTo>
                <a:lnTo>
                  <a:pt x="0" y="4362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14140146" y="6718650"/>
            <a:ext cx="4147854" cy="3276134"/>
          </a:xfrm>
          <a:custGeom>
            <a:avLst/>
            <a:gdLst/>
            <a:ahLst/>
            <a:cxnLst/>
            <a:rect l="l" t="t" r="r" b="b"/>
            <a:pathLst>
              <a:path w="4147854" h="3276134">
                <a:moveTo>
                  <a:pt x="0" y="0"/>
                </a:moveTo>
                <a:lnTo>
                  <a:pt x="4147854" y="0"/>
                </a:lnTo>
                <a:lnTo>
                  <a:pt x="4147854" y="3276134"/>
                </a:lnTo>
                <a:lnTo>
                  <a:pt x="0" y="3276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0" y="1311037"/>
          <a:ext cx="8395697" cy="3990975"/>
        </p:xfrm>
        <a:graphic>
          <a:graphicData uri="http://schemas.openxmlformats.org/drawingml/2006/table">
            <a:tbl>
              <a:tblPr/>
              <a:tblGrid>
                <a:gridCol w="4298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819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Train Acc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Val Acc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19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 CNN, 10 classes, batch=32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~85%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~42%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19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 CNN, 4 classes, batch=32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~97%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~64%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19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 CNN, 10 classes, batch=32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~98%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~83%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819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ResNet50, AdamW, early stopping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&gt;99%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&gt;99%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171450"/>
            <a:ext cx="16230600" cy="889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Implementation - Machine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49219"/>
            <a:ext cx="6237306" cy="158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 took a powerful pre-built image classification engine and removed its original output layer and attached my own 4-class tablet classifier on top. From my research, this is the standard transfer learning pattern for image classification.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587147"/>
            <a:ext cx="2337386" cy="29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2293" b="1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Summary: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022646"/>
            <a:ext cx="6237306" cy="62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ResNet50 pretrained on ImageNet (include_top=False), GlobalAveragePooling2D, Dense(4, softmax)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760574"/>
            <a:ext cx="2337386" cy="29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2293" b="1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Architecture: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986576"/>
            <a:ext cx="1205207" cy="29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2293" b="1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Dataset: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248648"/>
            <a:ext cx="6237306" cy="62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Kaggle Pharmaceutical Drugs and Vitamins Synthetic images - 4,000 images across 4 classes.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5608853"/>
            <a:ext cx="6890147" cy="29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2293" b="1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Final Confusion Matrix &amp; Precision/Recall/F1-Scores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212578"/>
            <a:ext cx="3330206" cy="29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2293" b="1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Hyperparameter tuning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474650"/>
            <a:ext cx="6237306" cy="350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Epochs -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Experimented with various numbers of epochs during training over the weeks from 2,10,15,25,30,1000.</a:t>
            </a:r>
          </a:p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Batch size -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Reduced my batch size from 32 to 16 produced a 19% jump in validation accuracy as it allowed for better model generalization by introducing noise.</a:t>
            </a:r>
          </a:p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Optimiser -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Switched from Adam to AdamW. I researched these optimisers and found that using AdamW results in better </a:t>
            </a:r>
            <a:r>
              <a:rPr lang="en-US" sz="18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generalisation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and reduced overfitting.</a:t>
            </a:r>
          </a:p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 split -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80/10/10, 70/15/15, 65/25/10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Class reduction - </a:t>
            </a: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Highest performing classes based on f1-scores were chosen for the final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91611" y="5750975"/>
            <a:ext cx="2032019" cy="4397800"/>
          </a:xfrm>
          <a:custGeom>
            <a:avLst/>
            <a:gdLst/>
            <a:ahLst/>
            <a:cxnLst/>
            <a:rect l="l" t="t" r="r" b="b"/>
            <a:pathLst>
              <a:path w="2032019" h="4397800">
                <a:moveTo>
                  <a:pt x="0" y="0"/>
                </a:moveTo>
                <a:lnTo>
                  <a:pt x="2032019" y="0"/>
                </a:lnTo>
                <a:lnTo>
                  <a:pt x="2032019" y="4397800"/>
                </a:lnTo>
                <a:lnTo>
                  <a:pt x="0" y="439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7227973" y="5750975"/>
            <a:ext cx="2032019" cy="4397800"/>
          </a:xfrm>
          <a:custGeom>
            <a:avLst/>
            <a:gdLst/>
            <a:ahLst/>
            <a:cxnLst/>
            <a:rect l="l" t="t" r="r" b="b"/>
            <a:pathLst>
              <a:path w="2032019" h="4397800">
                <a:moveTo>
                  <a:pt x="0" y="0"/>
                </a:moveTo>
                <a:lnTo>
                  <a:pt x="2032019" y="0"/>
                </a:lnTo>
                <a:lnTo>
                  <a:pt x="2032019" y="4397800"/>
                </a:lnTo>
                <a:lnTo>
                  <a:pt x="0" y="4397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Freeform 4"/>
          <p:cNvSpPr/>
          <p:nvPr/>
        </p:nvSpPr>
        <p:spPr>
          <a:xfrm>
            <a:off x="11752230" y="5726430"/>
            <a:ext cx="2032019" cy="4397800"/>
          </a:xfrm>
          <a:custGeom>
            <a:avLst/>
            <a:gdLst/>
            <a:ahLst/>
            <a:cxnLst/>
            <a:rect l="l" t="t" r="r" b="b"/>
            <a:pathLst>
              <a:path w="2032019" h="4397800">
                <a:moveTo>
                  <a:pt x="0" y="0"/>
                </a:moveTo>
                <a:lnTo>
                  <a:pt x="2032019" y="0"/>
                </a:lnTo>
                <a:lnTo>
                  <a:pt x="2032019" y="4397800"/>
                </a:lnTo>
                <a:lnTo>
                  <a:pt x="0" y="439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14012849" y="5726430"/>
            <a:ext cx="2032019" cy="4397800"/>
          </a:xfrm>
          <a:custGeom>
            <a:avLst/>
            <a:gdLst/>
            <a:ahLst/>
            <a:cxnLst/>
            <a:rect l="l" t="t" r="r" b="b"/>
            <a:pathLst>
              <a:path w="2032019" h="4397800">
                <a:moveTo>
                  <a:pt x="0" y="0"/>
                </a:moveTo>
                <a:lnTo>
                  <a:pt x="2032019" y="0"/>
                </a:lnTo>
                <a:lnTo>
                  <a:pt x="2032019" y="4397800"/>
                </a:lnTo>
                <a:lnTo>
                  <a:pt x="0" y="439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12373214" y="1208323"/>
            <a:ext cx="5722289" cy="3643101"/>
          </a:xfrm>
          <a:custGeom>
            <a:avLst/>
            <a:gdLst/>
            <a:ahLst/>
            <a:cxnLst/>
            <a:rect l="l" t="t" r="r" b="b"/>
            <a:pathLst>
              <a:path w="5722289" h="3643101">
                <a:moveTo>
                  <a:pt x="0" y="0"/>
                </a:moveTo>
                <a:lnTo>
                  <a:pt x="5722289" y="0"/>
                </a:lnTo>
                <a:lnTo>
                  <a:pt x="5722289" y="3643101"/>
                </a:lnTo>
                <a:lnTo>
                  <a:pt x="0" y="36431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TextBox 7"/>
          <p:cNvSpPr txBox="1"/>
          <p:nvPr/>
        </p:nvSpPr>
        <p:spPr>
          <a:xfrm>
            <a:off x="1028700" y="544488"/>
            <a:ext cx="11830940" cy="889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Implementation - Frontend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396978"/>
            <a:ext cx="341033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React Native + Expo, JavaScript.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127230"/>
            <a:ext cx="1931197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Frameworks: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096548"/>
            <a:ext cx="1931197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Navigation: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366296"/>
            <a:ext cx="5516808" cy="222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Single stack navigator managing all screens - Home, Authentication, Schedules (contains its own nested stack navigator for Schedule Home, View Schedule and Create Schedule), Prediction and Intake Log.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Navigation between screens is handled through text link buttons on home Screen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635151"/>
            <a:ext cx="1931197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Screens: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904899"/>
            <a:ext cx="4917014" cy="414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Home - JWT protected routes greyed out before login/registration, accessible after.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Authentication - Registration and login with email/password.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Schedule - Tablet name, dosage, time of day.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View Schedule - grouped by Morning, Afternoon, Evening.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Tablet Prediction - Expo-image-picker, camera or photo library, predict and compare to schedule.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Intake Log - Mark as taken button, today’s history.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27973" y="5114925"/>
            <a:ext cx="171843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Home Screen (Before Login)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0102" y="5139470"/>
            <a:ext cx="171843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Home Screen (After Login)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51457" y="5139470"/>
            <a:ext cx="171843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Prediction Screen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12849" y="5139470"/>
            <a:ext cx="1845641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View/Edit Schedule Screen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02758" y="1932474"/>
            <a:ext cx="4713202" cy="222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JWT token is stored in React state at app level in App.js. The token is passed as prop, which allows login to update the global auth state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Schedules has its own nested stack navigator from Schedule Home screen to View Schedule or Create Schedule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474219" cy="10287000"/>
            <a:chOff x="0" y="0"/>
            <a:chExt cx="249526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5267" cy="2709333"/>
            </a:xfrm>
            <a:custGeom>
              <a:avLst/>
              <a:gdLst/>
              <a:ahLst/>
              <a:cxnLst/>
              <a:rect l="l" t="t" r="r" b="b"/>
              <a:pathLst>
                <a:path w="2495267" h="2709333">
                  <a:moveTo>
                    <a:pt x="0" y="0"/>
                  </a:moveTo>
                  <a:lnTo>
                    <a:pt x="2495267" y="0"/>
                  </a:lnTo>
                  <a:lnTo>
                    <a:pt x="249526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E"/>
            </a:solidFill>
          </p:spPr>
          <p:txBody>
            <a:bodyPr/>
            <a:lstStyle/>
            <a:p>
              <a:endParaRPr lang="en-I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9526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98314" y="2470907"/>
            <a:ext cx="4244998" cy="3770228"/>
          </a:xfrm>
          <a:custGeom>
            <a:avLst/>
            <a:gdLst/>
            <a:ahLst/>
            <a:cxnLst/>
            <a:rect l="l" t="t" r="r" b="b"/>
            <a:pathLst>
              <a:path w="4244998" h="3770228">
                <a:moveTo>
                  <a:pt x="0" y="0"/>
                </a:moveTo>
                <a:lnTo>
                  <a:pt x="4244998" y="0"/>
                </a:lnTo>
                <a:lnTo>
                  <a:pt x="4244998" y="3770229"/>
                </a:lnTo>
                <a:lnTo>
                  <a:pt x="0" y="3770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5048681" y="2470907"/>
            <a:ext cx="4225256" cy="3770228"/>
          </a:xfrm>
          <a:custGeom>
            <a:avLst/>
            <a:gdLst/>
            <a:ahLst/>
            <a:cxnLst/>
            <a:rect l="l" t="t" r="r" b="b"/>
            <a:pathLst>
              <a:path w="4225256" h="3770228">
                <a:moveTo>
                  <a:pt x="0" y="0"/>
                </a:moveTo>
                <a:lnTo>
                  <a:pt x="4225256" y="0"/>
                </a:lnTo>
                <a:lnTo>
                  <a:pt x="4225256" y="3770229"/>
                </a:lnTo>
                <a:lnTo>
                  <a:pt x="0" y="3770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Freeform 7"/>
          <p:cNvSpPr/>
          <p:nvPr/>
        </p:nvSpPr>
        <p:spPr>
          <a:xfrm>
            <a:off x="9593000" y="839718"/>
            <a:ext cx="3955949" cy="3924962"/>
          </a:xfrm>
          <a:custGeom>
            <a:avLst/>
            <a:gdLst/>
            <a:ahLst/>
            <a:cxnLst/>
            <a:rect l="l" t="t" r="r" b="b"/>
            <a:pathLst>
              <a:path w="3955949" h="3924962">
                <a:moveTo>
                  <a:pt x="0" y="0"/>
                </a:moveTo>
                <a:lnTo>
                  <a:pt x="3955949" y="0"/>
                </a:lnTo>
                <a:lnTo>
                  <a:pt x="3955949" y="3924962"/>
                </a:lnTo>
                <a:lnTo>
                  <a:pt x="0" y="392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8" name="Freeform 8"/>
          <p:cNvSpPr/>
          <p:nvPr/>
        </p:nvSpPr>
        <p:spPr>
          <a:xfrm>
            <a:off x="13748030" y="1405612"/>
            <a:ext cx="4252856" cy="3359068"/>
          </a:xfrm>
          <a:custGeom>
            <a:avLst/>
            <a:gdLst/>
            <a:ahLst/>
            <a:cxnLst/>
            <a:rect l="l" t="t" r="r" b="b"/>
            <a:pathLst>
              <a:path w="4252856" h="3359068">
                <a:moveTo>
                  <a:pt x="0" y="0"/>
                </a:moveTo>
                <a:lnTo>
                  <a:pt x="4252856" y="0"/>
                </a:lnTo>
                <a:lnTo>
                  <a:pt x="4252856" y="3359068"/>
                </a:lnTo>
                <a:lnTo>
                  <a:pt x="0" y="3359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9" name="Freeform 9"/>
          <p:cNvSpPr/>
          <p:nvPr/>
        </p:nvSpPr>
        <p:spPr>
          <a:xfrm>
            <a:off x="9593000" y="6399129"/>
            <a:ext cx="5530582" cy="725732"/>
          </a:xfrm>
          <a:custGeom>
            <a:avLst/>
            <a:gdLst/>
            <a:ahLst/>
            <a:cxnLst/>
            <a:rect l="l" t="t" r="r" b="b"/>
            <a:pathLst>
              <a:path w="5530582" h="725732">
                <a:moveTo>
                  <a:pt x="0" y="0"/>
                </a:moveTo>
                <a:lnTo>
                  <a:pt x="5530581" y="0"/>
                </a:lnTo>
                <a:lnTo>
                  <a:pt x="5530581" y="725733"/>
                </a:lnTo>
                <a:lnTo>
                  <a:pt x="0" y="72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0" name="Freeform 10"/>
          <p:cNvSpPr/>
          <p:nvPr/>
        </p:nvSpPr>
        <p:spPr>
          <a:xfrm>
            <a:off x="9593000" y="7239162"/>
            <a:ext cx="5530582" cy="765441"/>
          </a:xfrm>
          <a:custGeom>
            <a:avLst/>
            <a:gdLst/>
            <a:ahLst/>
            <a:cxnLst/>
            <a:rect l="l" t="t" r="r" b="b"/>
            <a:pathLst>
              <a:path w="5530582" h="765441">
                <a:moveTo>
                  <a:pt x="0" y="0"/>
                </a:moveTo>
                <a:lnTo>
                  <a:pt x="5530581" y="0"/>
                </a:lnTo>
                <a:lnTo>
                  <a:pt x="5530581" y="765441"/>
                </a:lnTo>
                <a:lnTo>
                  <a:pt x="0" y="7654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1" name="TextBox 11"/>
          <p:cNvSpPr txBox="1"/>
          <p:nvPr/>
        </p:nvSpPr>
        <p:spPr>
          <a:xfrm>
            <a:off x="598314" y="6441161"/>
            <a:ext cx="8675622" cy="312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image on the left is from when I was training the model using all 10 classes with my own custom-built CNN, image on the left is the ResNet50 model, trained on 4 classes. The model I built from scratch performed poorly, confusing many different tablet classes with each other before. I analysed the f1-scores, precision, and recall of the model on the left to find the best performing classes. I used this information to choose which classes I would keep training the model on, and to drop the poor performing classes.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Tablet class ‘Kremil S’ was originally one of the four chosen classes, however after further testing I had to remove this, as it was being predicted too much due to how visually similar it appears to the other pills.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8314" y="670259"/>
            <a:ext cx="7521184" cy="88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Testing - ML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8314" y="1948052"/>
            <a:ext cx="4775283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Before &amp; After Confusion Matrices: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93000" y="522345"/>
            <a:ext cx="4597484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Precision/Recall/F1 progression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93000" y="4874493"/>
            <a:ext cx="7758312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F1-score risen from 0.19 (early run, 10 classes) to 1.00 for all classes (final ResNet50 run)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3000" y="6078258"/>
            <a:ext cx="854891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SHA256 hash check confirmed zero duplicate images between train/val/test sets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93000" y="8458564"/>
            <a:ext cx="8407886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 misclassification was found during on internet-sourced images (DayZinc predicted as Bioflu, Bioflu as Bactidol). The model has learned to recognise synthetic tablets very well, but real-world photos of the same classes look different enough to sometimes confuse the model. To fix this, I plan to retrain the model on a larger, real-world photographic dataset.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93000" y="8169766"/>
            <a:ext cx="4155030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Real-world testing limitation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93000" y="5826740"/>
            <a:ext cx="4155030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Check for data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634625" cy="10287000"/>
            <a:chOff x="0" y="0"/>
            <a:chExt cx="227414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4140" cy="2709333"/>
            </a:xfrm>
            <a:custGeom>
              <a:avLst/>
              <a:gdLst/>
              <a:ahLst/>
              <a:cxnLst/>
              <a:rect l="l" t="t" r="r" b="b"/>
              <a:pathLst>
                <a:path w="2274140" h="2709333">
                  <a:moveTo>
                    <a:pt x="0" y="0"/>
                  </a:moveTo>
                  <a:lnTo>
                    <a:pt x="2274140" y="0"/>
                  </a:lnTo>
                  <a:lnTo>
                    <a:pt x="22741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E"/>
            </a:solidFill>
          </p:spPr>
          <p:txBody>
            <a:bodyPr/>
            <a:lstStyle/>
            <a:p>
              <a:endParaRPr lang="en-I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74140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98314" y="2396800"/>
            <a:ext cx="6607543" cy="4633752"/>
          </a:xfrm>
          <a:custGeom>
            <a:avLst/>
            <a:gdLst/>
            <a:ahLst/>
            <a:cxnLst/>
            <a:rect l="l" t="t" r="r" b="b"/>
            <a:pathLst>
              <a:path w="6607543" h="4633752">
                <a:moveTo>
                  <a:pt x="0" y="0"/>
                </a:moveTo>
                <a:lnTo>
                  <a:pt x="6607544" y="0"/>
                </a:lnTo>
                <a:lnTo>
                  <a:pt x="6607544" y="4633752"/>
                </a:lnTo>
                <a:lnTo>
                  <a:pt x="0" y="4633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598314" y="7030552"/>
            <a:ext cx="6607543" cy="2348973"/>
          </a:xfrm>
          <a:custGeom>
            <a:avLst/>
            <a:gdLst/>
            <a:ahLst/>
            <a:cxnLst/>
            <a:rect l="l" t="t" r="r" b="b"/>
            <a:pathLst>
              <a:path w="6607543" h="2348973">
                <a:moveTo>
                  <a:pt x="0" y="0"/>
                </a:moveTo>
                <a:lnTo>
                  <a:pt x="6607544" y="0"/>
                </a:lnTo>
                <a:lnTo>
                  <a:pt x="6607544" y="2348973"/>
                </a:lnTo>
                <a:lnTo>
                  <a:pt x="0" y="2348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Freeform 7"/>
          <p:cNvSpPr/>
          <p:nvPr/>
        </p:nvSpPr>
        <p:spPr>
          <a:xfrm>
            <a:off x="9030177" y="2780371"/>
            <a:ext cx="5583908" cy="867255"/>
          </a:xfrm>
          <a:custGeom>
            <a:avLst/>
            <a:gdLst/>
            <a:ahLst/>
            <a:cxnLst/>
            <a:rect l="l" t="t" r="r" b="b"/>
            <a:pathLst>
              <a:path w="5583908" h="867255">
                <a:moveTo>
                  <a:pt x="0" y="0"/>
                </a:moveTo>
                <a:lnTo>
                  <a:pt x="5583908" y="0"/>
                </a:lnTo>
                <a:lnTo>
                  <a:pt x="5583908" y="867256"/>
                </a:lnTo>
                <a:lnTo>
                  <a:pt x="0" y="867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8" name="Freeform 8"/>
          <p:cNvSpPr/>
          <p:nvPr/>
        </p:nvSpPr>
        <p:spPr>
          <a:xfrm>
            <a:off x="9030177" y="7030552"/>
            <a:ext cx="6719868" cy="3183537"/>
          </a:xfrm>
          <a:custGeom>
            <a:avLst/>
            <a:gdLst/>
            <a:ahLst/>
            <a:cxnLst/>
            <a:rect l="l" t="t" r="r" b="b"/>
            <a:pathLst>
              <a:path w="6719868" h="3183537">
                <a:moveTo>
                  <a:pt x="0" y="0"/>
                </a:moveTo>
                <a:lnTo>
                  <a:pt x="6719868" y="0"/>
                </a:lnTo>
                <a:lnTo>
                  <a:pt x="6719868" y="3183537"/>
                </a:lnTo>
                <a:lnTo>
                  <a:pt x="0" y="3183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9" name="TextBox 9"/>
          <p:cNvSpPr txBox="1"/>
          <p:nvPr/>
        </p:nvSpPr>
        <p:spPr>
          <a:xfrm>
            <a:off x="293008" y="670259"/>
            <a:ext cx="8545686" cy="88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6999" b="1" spc="-279" dirty="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Testing - API (Pytest)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314" y="1948052"/>
            <a:ext cx="4775283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 dirty="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API Endpoint tests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30177" y="854282"/>
            <a:ext cx="870047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Unittest.mock.patch is applied at module level to patch the model loading with a dummy model before app.main is imported. This avoids slow TensorFlow load and removes ML file dependency from the tests.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30177" y="565484"/>
            <a:ext cx="4155030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Setup &amp; Configuration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30177" y="2168866"/>
            <a:ext cx="8700472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DummyModel.predict() always returns fixed, fake probabilities, isolating API logic from ML accuracy.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30177" y="3909718"/>
            <a:ext cx="8700472" cy="1903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Problem:</a:t>
            </a:r>
            <a:r>
              <a:rPr lang="en-US" sz="17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Using sqlite:///:memory:, as a new empty database is created for every connection. So, when the test fixture creates the tables on one connection, and then FastAPI opens a second connection to handle the request, the second connection sees a completely empty database with no tables.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Solution:</a:t>
            </a:r>
            <a:r>
              <a:rPr lang="en-US" sz="17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Use a file-based SQLite database instead, so all connections share the same data.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30177" y="5968071"/>
            <a:ext cx="870047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Pytest coverage: 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have 15 tests for the API endpoints with an overall coverage of 92%, missing 6 tests in database.py (90% coverage) and 17 tests in main.py (77% coverage)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084883"/>
            <a:chOff x="0" y="0"/>
            <a:chExt cx="4816593" cy="18659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865977"/>
            </a:xfrm>
            <a:custGeom>
              <a:avLst/>
              <a:gdLst/>
              <a:ahLst/>
              <a:cxnLst/>
              <a:rect l="l" t="t" r="r" b="b"/>
              <a:pathLst>
                <a:path w="4816592" h="1865977">
                  <a:moveTo>
                    <a:pt x="0" y="0"/>
                  </a:moveTo>
                  <a:lnTo>
                    <a:pt x="4816592" y="0"/>
                  </a:lnTo>
                  <a:lnTo>
                    <a:pt x="4816592" y="1865977"/>
                  </a:lnTo>
                  <a:lnTo>
                    <a:pt x="0" y="1865977"/>
                  </a:lnTo>
                  <a:close/>
                </a:path>
              </a:pathLst>
            </a:custGeom>
            <a:solidFill>
              <a:srgbClr val="EAEBEE"/>
            </a:solidFill>
          </p:spPr>
          <p:txBody>
            <a:bodyPr/>
            <a:lstStyle/>
            <a:p>
              <a:endParaRPr lang="en-I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1894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4824995"/>
            <a:ext cx="3997683" cy="2798378"/>
          </a:xfrm>
          <a:custGeom>
            <a:avLst/>
            <a:gdLst/>
            <a:ahLst/>
            <a:cxnLst/>
            <a:rect l="l" t="t" r="r" b="b"/>
            <a:pathLst>
              <a:path w="3997683" h="2798378">
                <a:moveTo>
                  <a:pt x="0" y="0"/>
                </a:moveTo>
                <a:lnTo>
                  <a:pt x="3997683" y="0"/>
                </a:lnTo>
                <a:lnTo>
                  <a:pt x="3997683" y="2798378"/>
                </a:lnTo>
                <a:lnTo>
                  <a:pt x="0" y="2798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7550036" y="5118295"/>
            <a:ext cx="4427418" cy="1511155"/>
          </a:xfrm>
          <a:custGeom>
            <a:avLst/>
            <a:gdLst/>
            <a:ahLst/>
            <a:cxnLst/>
            <a:rect l="l" t="t" r="r" b="b"/>
            <a:pathLst>
              <a:path w="4427418" h="1511155">
                <a:moveTo>
                  <a:pt x="0" y="0"/>
                </a:moveTo>
                <a:lnTo>
                  <a:pt x="4427418" y="0"/>
                </a:lnTo>
                <a:lnTo>
                  <a:pt x="4427418" y="1511155"/>
                </a:lnTo>
                <a:lnTo>
                  <a:pt x="0" y="151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Freeform 7"/>
          <p:cNvSpPr/>
          <p:nvPr/>
        </p:nvSpPr>
        <p:spPr>
          <a:xfrm>
            <a:off x="13369116" y="4643401"/>
            <a:ext cx="4775239" cy="4224553"/>
          </a:xfrm>
          <a:custGeom>
            <a:avLst/>
            <a:gdLst/>
            <a:ahLst/>
            <a:cxnLst/>
            <a:rect l="l" t="t" r="r" b="b"/>
            <a:pathLst>
              <a:path w="4775239" h="4224553">
                <a:moveTo>
                  <a:pt x="0" y="0"/>
                </a:moveTo>
                <a:lnTo>
                  <a:pt x="4775239" y="0"/>
                </a:lnTo>
                <a:lnTo>
                  <a:pt x="4775239" y="4224553"/>
                </a:lnTo>
                <a:lnTo>
                  <a:pt x="0" y="4224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8" name="TextBox 8"/>
          <p:cNvSpPr txBox="1"/>
          <p:nvPr/>
        </p:nvSpPr>
        <p:spPr>
          <a:xfrm>
            <a:off x="1028700" y="670243"/>
            <a:ext cx="7205050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Problem Solving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283534"/>
            <a:ext cx="4956777" cy="190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During the ideation stage of the project, I was mainly focused on doing a hardware project. After meetings with my supervisor discussing these ideas, I was made aware of some timing risks with my ideas, so I decided to complete a software project as a result.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895573"/>
            <a:ext cx="5329719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2399" b="1" spc="-9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Hardware to software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527565"/>
            <a:ext cx="5138314" cy="222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All ResNet50 layers were set to trainable=False initially, preventing learning. I identified this problem while discussing my ML model with Michelle and telling her about the issues I was having during training.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fix to this issue was to set all layers trainable=True.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39605"/>
            <a:ext cx="5329719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2399" b="1" spc="-95" dirty="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Layer freezing error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8676" y="2527565"/>
            <a:ext cx="4427418" cy="2544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 adopted a trial-and-error approach when training my machine learning model to try to really understand what can affect the results and how. I found that by reducing the batch size from 32 to 16 produced a 19% jump in validation accuracy, which was one of the biggest improvements in my ML development.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0036" y="2139605"/>
            <a:ext cx="2909540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2399" b="1" spc="-95" dirty="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Batch size discovery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69116" y="2139605"/>
            <a:ext cx="2387620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2399" b="1" spc="-9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Class reduction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69116" y="2527565"/>
            <a:ext cx="4775239" cy="190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Using a 10-class model persistently confused visually similar tablets. I used per-class F1 scores and visual inspections of all 10 classes to select the four most distinct. ‘Kremil S’ was explicitly excluded due to chronic overprediction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76148" y="7701375"/>
            <a:ext cx="3038129" cy="29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2399" b="1" spc="-95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Christmas demo flaw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6148" y="8044734"/>
            <a:ext cx="4775239" cy="190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 problem identified during the Christmas demonstration was the password login credentials contradicts the memory-impaired user. I have acknowledged this, and have proposed biometric face ID as a future development of my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258391"/>
            <a:ext cx="4264421" cy="1882846"/>
          </a:xfrm>
          <a:custGeom>
            <a:avLst/>
            <a:gdLst/>
            <a:ahLst/>
            <a:cxnLst/>
            <a:rect l="l" t="t" r="r" b="b"/>
            <a:pathLst>
              <a:path w="4264421" h="1882846">
                <a:moveTo>
                  <a:pt x="0" y="0"/>
                </a:moveTo>
                <a:lnTo>
                  <a:pt x="4264421" y="0"/>
                </a:lnTo>
                <a:lnTo>
                  <a:pt x="4264421" y="1882846"/>
                </a:lnTo>
                <a:lnTo>
                  <a:pt x="0" y="1882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1028700" y="6684508"/>
            <a:ext cx="5365984" cy="3508012"/>
          </a:xfrm>
          <a:custGeom>
            <a:avLst/>
            <a:gdLst/>
            <a:ahLst/>
            <a:cxnLst/>
            <a:rect l="l" t="t" r="r" b="b"/>
            <a:pathLst>
              <a:path w="5365984" h="3508012">
                <a:moveTo>
                  <a:pt x="0" y="0"/>
                </a:moveTo>
                <a:lnTo>
                  <a:pt x="5365984" y="0"/>
                </a:lnTo>
                <a:lnTo>
                  <a:pt x="5365984" y="3508012"/>
                </a:lnTo>
                <a:lnTo>
                  <a:pt x="0" y="35080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Freeform 4"/>
          <p:cNvSpPr/>
          <p:nvPr/>
        </p:nvSpPr>
        <p:spPr>
          <a:xfrm>
            <a:off x="9729172" y="3364029"/>
            <a:ext cx="6783347" cy="2063666"/>
          </a:xfrm>
          <a:custGeom>
            <a:avLst/>
            <a:gdLst/>
            <a:ahLst/>
            <a:cxnLst/>
            <a:rect l="l" t="t" r="r" b="b"/>
            <a:pathLst>
              <a:path w="6783347" h="2063666">
                <a:moveTo>
                  <a:pt x="0" y="0"/>
                </a:moveTo>
                <a:lnTo>
                  <a:pt x="6783347" y="0"/>
                </a:lnTo>
                <a:lnTo>
                  <a:pt x="6783347" y="2063666"/>
                </a:lnTo>
                <a:lnTo>
                  <a:pt x="0" y="2063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9729172" y="7840160"/>
            <a:ext cx="4168699" cy="1990554"/>
          </a:xfrm>
          <a:custGeom>
            <a:avLst/>
            <a:gdLst/>
            <a:ahLst/>
            <a:cxnLst/>
            <a:rect l="l" t="t" r="r" b="b"/>
            <a:pathLst>
              <a:path w="4168699" h="1990554">
                <a:moveTo>
                  <a:pt x="0" y="0"/>
                </a:moveTo>
                <a:lnTo>
                  <a:pt x="4168698" y="0"/>
                </a:lnTo>
                <a:lnTo>
                  <a:pt x="4168698" y="1990553"/>
                </a:lnTo>
                <a:lnTo>
                  <a:pt x="0" y="1990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14149557" y="7840160"/>
            <a:ext cx="3750695" cy="1013467"/>
          </a:xfrm>
          <a:custGeom>
            <a:avLst/>
            <a:gdLst/>
            <a:ahLst/>
            <a:cxnLst/>
            <a:rect l="l" t="t" r="r" b="b"/>
            <a:pathLst>
              <a:path w="3750695" h="1013467">
                <a:moveTo>
                  <a:pt x="0" y="0"/>
                </a:moveTo>
                <a:lnTo>
                  <a:pt x="3750695" y="0"/>
                </a:lnTo>
                <a:lnTo>
                  <a:pt x="3750695" y="1013467"/>
                </a:lnTo>
                <a:lnTo>
                  <a:pt x="0" y="10134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Freeform 7"/>
          <p:cNvSpPr/>
          <p:nvPr/>
        </p:nvSpPr>
        <p:spPr>
          <a:xfrm>
            <a:off x="14149557" y="9116418"/>
            <a:ext cx="3750695" cy="517630"/>
          </a:xfrm>
          <a:custGeom>
            <a:avLst/>
            <a:gdLst/>
            <a:ahLst/>
            <a:cxnLst/>
            <a:rect l="l" t="t" r="r" b="b"/>
            <a:pathLst>
              <a:path w="3750695" h="517630">
                <a:moveTo>
                  <a:pt x="0" y="0"/>
                </a:moveTo>
                <a:lnTo>
                  <a:pt x="3750695" y="0"/>
                </a:lnTo>
                <a:lnTo>
                  <a:pt x="3750695" y="517630"/>
                </a:lnTo>
                <a:lnTo>
                  <a:pt x="0" y="517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8" name="Freeform 8"/>
          <p:cNvSpPr/>
          <p:nvPr/>
        </p:nvSpPr>
        <p:spPr>
          <a:xfrm>
            <a:off x="5378936" y="3492768"/>
            <a:ext cx="4127276" cy="1645751"/>
          </a:xfrm>
          <a:custGeom>
            <a:avLst/>
            <a:gdLst/>
            <a:ahLst/>
            <a:cxnLst/>
            <a:rect l="l" t="t" r="r" b="b"/>
            <a:pathLst>
              <a:path w="4127276" h="1645751">
                <a:moveTo>
                  <a:pt x="0" y="0"/>
                </a:moveTo>
                <a:lnTo>
                  <a:pt x="4127276" y="0"/>
                </a:lnTo>
                <a:lnTo>
                  <a:pt x="4127276" y="1645751"/>
                </a:lnTo>
                <a:lnTo>
                  <a:pt x="0" y="16457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9" name="TextBox 9"/>
          <p:cNvSpPr txBox="1"/>
          <p:nvPr/>
        </p:nvSpPr>
        <p:spPr>
          <a:xfrm>
            <a:off x="1028700" y="776155"/>
            <a:ext cx="8528843" cy="88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 spc="-279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Project Management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27042"/>
            <a:ext cx="870047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Jira - Sprint Management </a:t>
            </a:r>
            <a:r>
              <a:rPr lang="en-US" sz="1799" b="1" u="sng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9" tooltip="https://joshthompson.atlassian.net/jira/software/projects/SCRUM/summary"/>
              </a:rPr>
              <a:t>Link to Jira Board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Sprints tracked throughout - epics created for frontend, backend, research, ML model training and more.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649839"/>
            <a:ext cx="870047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OneNote - Weekly Logs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 weekly progress I made has been documented, including research and findings, code snippets, problems encountered.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9172" y="2027042"/>
            <a:ext cx="8337397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&amp; Project Tutorial Standups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Weekly standups in Ben’s tutorial class, documenting progress made, work to be completed, and blockers, for everyone in my class doing software projects every week.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29172" y="5808695"/>
            <a:ext cx="8337397" cy="186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Teamwork &amp; Collaboration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Weekly meeting with project supervisor to update on project progression, review work completed.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Teams groupchat with class for updating each other on progress made each week for people who couldn’t make it to the standup meetings.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Calls with peers to review each other’s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0150"/>
            <a:ext cx="6155782" cy="89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5"/>
              </a:lnSpc>
            </a:pPr>
            <a:r>
              <a:rPr lang="en-US" sz="7069" b="1" spc="-282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96600"/>
            <a:ext cx="7253493" cy="103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Biometric login -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Face ID/fingerprint through expo-local-authentication. This is the most important accessibility fix.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68481"/>
            <a:ext cx="7253493" cy="103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Push notifications -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Reminds user when tablet is due, as currently the app helps a user to identify a tablet once they have already remembered to take one.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139116"/>
            <a:ext cx="7253493" cy="166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Expanded dataset -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want to retrain the model on real-world photos to close the domain gap with synthetic training images. I would also like to scale back up to the original 10-class identifier to verify if it maintains it’s accuracy on a larger dataset.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038401"/>
            <a:ext cx="7253493" cy="103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9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Caregiver access -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think a second account role for remote monitoring of a patient’s intake log would be extremely beneficial for intake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8340" y="3520499"/>
            <a:ext cx="10071320" cy="360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1"/>
              </a:lnSpc>
            </a:pPr>
            <a:r>
              <a:rPr lang="en-US" sz="14650" b="1" spc="-586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Thanks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1783</Words>
  <Application>Microsoft Office PowerPoint</Application>
  <PresentationFormat>Custom</PresentationFormat>
  <Paragraphs>148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Open Sans</vt:lpstr>
      <vt:lpstr>Arial</vt:lpstr>
      <vt:lpstr>Open Sans Bold</vt:lpstr>
      <vt:lpstr>Open Sans Italics</vt:lpstr>
      <vt:lpstr>Open Sans Semi-Bold</vt:lpstr>
      <vt:lpstr>Open Sans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Summer Presentation</dc:title>
  <cp:lastModifiedBy>JOSH THOMPSON - STUDENT</cp:lastModifiedBy>
  <cp:revision>1</cp:revision>
  <dcterms:created xsi:type="dcterms:W3CDTF">2006-08-16T00:00:00Z</dcterms:created>
  <dcterms:modified xsi:type="dcterms:W3CDTF">2026-04-27T18:48:15Z</dcterms:modified>
  <dc:identifier>DAHH_CnlDGQ</dc:identifier>
</cp:coreProperties>
</file>